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onterchi Serif Bold" charset="1" panose="02000503060000020004"/>
      <p:regular r:id="rId13"/>
    </p:embeddedFont>
    <p:embeddedFont>
      <p:font typeface="Monterchi Serif" charset="1" panose="02000503060000020004"/>
      <p:regular r:id="rId14"/>
    </p:embeddedFont>
    <p:embeddedFont>
      <p:font typeface="Monterchi Serif Italics" charset="1" panose="020005030600000200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trello.com/b/C2MDnM9p/mi-tablero-de-trello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61158" y="2483435"/>
            <a:ext cx="12965683" cy="3312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408"/>
              </a:lnSpc>
            </a:pPr>
            <a:r>
              <a:rPr lang="en-US" b="true" sz="7200" spc="230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PLATAFORMA DE GESTIÓN DE INGRESO DE VEHÍCULOS CON CHAT WEB ASISTIDO – PEPSICO CHILE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36083" y="721474"/>
            <a:ext cx="3598580" cy="4114800"/>
            <a:chOff x="0" y="0"/>
            <a:chExt cx="4798106" cy="54864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359656"/>
              <a:ext cx="4798106" cy="314368"/>
              <a:chOff x="0" y="0"/>
              <a:chExt cx="947774" cy="6209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47774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47774">
                    <a:moveTo>
                      <a:pt x="0" y="0"/>
                    </a:moveTo>
                    <a:lnTo>
                      <a:pt x="947774" y="0"/>
                    </a:lnTo>
                    <a:lnTo>
                      <a:pt x="947774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28575"/>
                <a:ext cx="947774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1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925401"/>
              <a:ext cx="3675307" cy="314368"/>
              <a:chOff x="0" y="0"/>
              <a:chExt cx="725987" cy="62097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72598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725987">
                    <a:moveTo>
                      <a:pt x="0" y="0"/>
                    </a:moveTo>
                    <a:lnTo>
                      <a:pt x="725987" y="0"/>
                    </a:lnTo>
                    <a:lnTo>
                      <a:pt x="72598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28575"/>
                <a:ext cx="72598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1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-5400000">
              <a:off x="-650594" y="1538808"/>
              <a:ext cx="3391984" cy="314368"/>
              <a:chOff x="0" y="0"/>
              <a:chExt cx="670022" cy="6209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70022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670022">
                    <a:moveTo>
                      <a:pt x="0" y="0"/>
                    </a:moveTo>
                    <a:lnTo>
                      <a:pt x="670022" y="0"/>
                    </a:lnTo>
                    <a:lnTo>
                      <a:pt x="670022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670022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1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-5400000">
              <a:off x="-2123316" y="3048717"/>
              <a:ext cx="4560999" cy="314368"/>
              <a:chOff x="0" y="0"/>
              <a:chExt cx="900938" cy="6209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00938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00938">
                    <a:moveTo>
                      <a:pt x="0" y="0"/>
                    </a:moveTo>
                    <a:lnTo>
                      <a:pt x="900938" y="0"/>
                    </a:lnTo>
                    <a:lnTo>
                      <a:pt x="900938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28575"/>
                <a:ext cx="900938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1"/>
                  </a:lnSpc>
                </a:pPr>
              </a:p>
            </p:txBody>
          </p:sp>
        </p:grpSp>
      </p:grpSp>
      <p:grpSp>
        <p:nvGrpSpPr>
          <p:cNvPr name="Group 16" id="16"/>
          <p:cNvGrpSpPr/>
          <p:nvPr/>
        </p:nvGrpSpPr>
        <p:grpSpPr>
          <a:xfrm rot="-10800000">
            <a:off x="13605221" y="5319624"/>
            <a:ext cx="3598580" cy="4114800"/>
            <a:chOff x="0" y="0"/>
            <a:chExt cx="4798106" cy="54864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359656"/>
              <a:ext cx="4798106" cy="314368"/>
              <a:chOff x="0" y="0"/>
              <a:chExt cx="947774" cy="6209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47774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47774">
                    <a:moveTo>
                      <a:pt x="0" y="0"/>
                    </a:moveTo>
                    <a:lnTo>
                      <a:pt x="947774" y="0"/>
                    </a:lnTo>
                    <a:lnTo>
                      <a:pt x="947774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947774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0" y="925401"/>
              <a:ext cx="3675307" cy="314368"/>
              <a:chOff x="0" y="0"/>
              <a:chExt cx="725987" cy="62097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72598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725987">
                    <a:moveTo>
                      <a:pt x="0" y="0"/>
                    </a:moveTo>
                    <a:lnTo>
                      <a:pt x="725987" y="0"/>
                    </a:lnTo>
                    <a:lnTo>
                      <a:pt x="72598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28575"/>
                <a:ext cx="72598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-5400000">
              <a:off x="-650594" y="1538808"/>
              <a:ext cx="3391984" cy="314368"/>
              <a:chOff x="0" y="0"/>
              <a:chExt cx="670022" cy="62097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670022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670022">
                    <a:moveTo>
                      <a:pt x="0" y="0"/>
                    </a:moveTo>
                    <a:lnTo>
                      <a:pt x="670022" y="0"/>
                    </a:lnTo>
                    <a:lnTo>
                      <a:pt x="670022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28575"/>
                <a:ext cx="670022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-5400000">
              <a:off x="-2123316" y="3048717"/>
              <a:ext cx="4560999" cy="314368"/>
              <a:chOff x="0" y="0"/>
              <a:chExt cx="900938" cy="62097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900938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00938">
                    <a:moveTo>
                      <a:pt x="0" y="0"/>
                    </a:moveTo>
                    <a:lnTo>
                      <a:pt x="900938" y="0"/>
                    </a:lnTo>
                    <a:lnTo>
                      <a:pt x="900938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28575"/>
                <a:ext cx="900938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29" id="29"/>
          <p:cNvGrpSpPr/>
          <p:nvPr/>
        </p:nvGrpSpPr>
        <p:grpSpPr>
          <a:xfrm rot="-5400000">
            <a:off x="1126558" y="5307992"/>
            <a:ext cx="3598580" cy="4114800"/>
            <a:chOff x="0" y="0"/>
            <a:chExt cx="4798106" cy="548640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359656"/>
              <a:ext cx="4798106" cy="314368"/>
              <a:chOff x="0" y="0"/>
              <a:chExt cx="947774" cy="62097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47774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47774">
                    <a:moveTo>
                      <a:pt x="0" y="0"/>
                    </a:moveTo>
                    <a:lnTo>
                      <a:pt x="947774" y="0"/>
                    </a:lnTo>
                    <a:lnTo>
                      <a:pt x="947774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28575"/>
                <a:ext cx="947774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0" y="925401"/>
              <a:ext cx="3675307" cy="314368"/>
              <a:chOff x="0" y="0"/>
              <a:chExt cx="725987" cy="62097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72598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725987">
                    <a:moveTo>
                      <a:pt x="0" y="0"/>
                    </a:moveTo>
                    <a:lnTo>
                      <a:pt x="725987" y="0"/>
                    </a:lnTo>
                    <a:lnTo>
                      <a:pt x="72598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28575"/>
                <a:ext cx="72598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-5400000">
              <a:off x="-650594" y="1538808"/>
              <a:ext cx="3391984" cy="314368"/>
              <a:chOff x="0" y="0"/>
              <a:chExt cx="670022" cy="62097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670022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670022">
                    <a:moveTo>
                      <a:pt x="0" y="0"/>
                    </a:moveTo>
                    <a:lnTo>
                      <a:pt x="670022" y="0"/>
                    </a:lnTo>
                    <a:lnTo>
                      <a:pt x="670022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28575"/>
                <a:ext cx="670022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-5400000">
              <a:off x="-2123316" y="3048717"/>
              <a:ext cx="4560999" cy="314368"/>
              <a:chOff x="0" y="0"/>
              <a:chExt cx="900938" cy="62097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900938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00938">
                    <a:moveTo>
                      <a:pt x="0" y="0"/>
                    </a:moveTo>
                    <a:lnTo>
                      <a:pt x="900938" y="0"/>
                    </a:lnTo>
                    <a:lnTo>
                      <a:pt x="900938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28575"/>
                <a:ext cx="900938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42" id="42"/>
          <p:cNvGrpSpPr/>
          <p:nvPr/>
        </p:nvGrpSpPr>
        <p:grpSpPr>
          <a:xfrm rot="5400000">
            <a:off x="13614746" y="733106"/>
            <a:ext cx="3598580" cy="4114800"/>
            <a:chOff x="0" y="0"/>
            <a:chExt cx="4798106" cy="5486400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359656"/>
              <a:ext cx="4798106" cy="314368"/>
              <a:chOff x="0" y="0"/>
              <a:chExt cx="947774" cy="62097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947774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47774">
                    <a:moveTo>
                      <a:pt x="0" y="0"/>
                    </a:moveTo>
                    <a:lnTo>
                      <a:pt x="947774" y="0"/>
                    </a:lnTo>
                    <a:lnTo>
                      <a:pt x="947774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28575"/>
                <a:ext cx="947774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0" y="925401"/>
              <a:ext cx="3675307" cy="314368"/>
              <a:chOff x="0" y="0"/>
              <a:chExt cx="725987" cy="62097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72598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725987">
                    <a:moveTo>
                      <a:pt x="0" y="0"/>
                    </a:moveTo>
                    <a:lnTo>
                      <a:pt x="725987" y="0"/>
                    </a:lnTo>
                    <a:lnTo>
                      <a:pt x="72598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28575"/>
                <a:ext cx="72598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-5400000">
              <a:off x="-650594" y="1538808"/>
              <a:ext cx="3391984" cy="314368"/>
              <a:chOff x="0" y="0"/>
              <a:chExt cx="670022" cy="62097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670022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670022">
                    <a:moveTo>
                      <a:pt x="0" y="0"/>
                    </a:moveTo>
                    <a:lnTo>
                      <a:pt x="670022" y="0"/>
                    </a:lnTo>
                    <a:lnTo>
                      <a:pt x="670022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28575"/>
                <a:ext cx="670022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-5400000">
              <a:off x="-2123316" y="3048717"/>
              <a:ext cx="4560999" cy="314368"/>
              <a:chOff x="0" y="0"/>
              <a:chExt cx="900938" cy="62097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900938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00938">
                    <a:moveTo>
                      <a:pt x="0" y="0"/>
                    </a:moveTo>
                    <a:lnTo>
                      <a:pt x="900938" y="0"/>
                    </a:lnTo>
                    <a:lnTo>
                      <a:pt x="900938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28575"/>
                <a:ext cx="900938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55" id="55"/>
          <p:cNvSpPr txBox="true"/>
          <p:nvPr/>
        </p:nvSpPr>
        <p:spPr>
          <a:xfrm rot="0">
            <a:off x="5140736" y="6583255"/>
            <a:ext cx="8102157" cy="91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61"/>
              </a:lnSpc>
              <a:spcBef>
                <a:spcPct val="0"/>
              </a:spcBef>
            </a:pPr>
            <a:r>
              <a:rPr lang="en-US" b="true" sz="7484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CAPSTONE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517114" y="6673520"/>
            <a:ext cx="3199671" cy="438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5"/>
              </a:lnSpc>
            </a:pPr>
            <a:r>
              <a:rPr lang="en-US" sz="2639" spc="-10">
                <a:solidFill>
                  <a:srgbClr val="6C9286"/>
                </a:solidFill>
                <a:latin typeface="Monterchi Serif"/>
                <a:ea typeface="Monterchi Serif"/>
                <a:cs typeface="Monterchi Serif"/>
                <a:sym typeface="Monterchi Serif"/>
              </a:rPr>
              <a:t>Fabiano Carte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2811352" y="6673520"/>
            <a:ext cx="3053378" cy="438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5"/>
              </a:lnSpc>
            </a:pPr>
            <a:r>
              <a:rPr lang="en-US" sz="2639" spc="-10">
                <a:solidFill>
                  <a:srgbClr val="6C9286"/>
                </a:solidFill>
                <a:latin typeface="Monterchi Serif"/>
                <a:ea typeface="Monterchi Serif"/>
                <a:cs typeface="Monterchi Serif"/>
                <a:sym typeface="Monterchi Serif"/>
              </a:rPr>
              <a:t>Martin Silva</a:t>
            </a:r>
          </a:p>
        </p:txBody>
      </p:sp>
      <p:grpSp>
        <p:nvGrpSpPr>
          <p:cNvPr name="Group 58" id="58"/>
          <p:cNvGrpSpPr/>
          <p:nvPr/>
        </p:nvGrpSpPr>
        <p:grpSpPr>
          <a:xfrm rot="-10800000">
            <a:off x="6388878" y="8928906"/>
            <a:ext cx="5605872" cy="235776"/>
            <a:chOff x="0" y="0"/>
            <a:chExt cx="1476444" cy="6209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476444" cy="62097"/>
            </a:xfrm>
            <a:custGeom>
              <a:avLst/>
              <a:gdLst/>
              <a:ahLst/>
              <a:cxnLst/>
              <a:rect r="r" b="b" t="t" l="l"/>
              <a:pathLst>
                <a:path h="62097" w="1476444">
                  <a:moveTo>
                    <a:pt x="0" y="0"/>
                  </a:moveTo>
                  <a:lnTo>
                    <a:pt x="1476444" y="0"/>
                  </a:lnTo>
                  <a:lnTo>
                    <a:pt x="1476444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1476444" cy="81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-10800000">
            <a:off x="7317640" y="8504598"/>
            <a:ext cx="3748348" cy="235776"/>
            <a:chOff x="0" y="0"/>
            <a:chExt cx="987219" cy="6209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87219" cy="62097"/>
            </a:xfrm>
            <a:custGeom>
              <a:avLst/>
              <a:gdLst/>
              <a:ahLst/>
              <a:cxnLst/>
              <a:rect r="r" b="b" t="t" l="l"/>
              <a:pathLst>
                <a:path h="62097" w="987219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987219" cy="81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50722" y="1234804"/>
            <a:ext cx="3748348" cy="235776"/>
            <a:chOff x="0" y="0"/>
            <a:chExt cx="987219" cy="620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7219" cy="62097"/>
            </a:xfrm>
            <a:custGeom>
              <a:avLst/>
              <a:gdLst/>
              <a:ahLst/>
              <a:cxnLst/>
              <a:rect r="r" b="b" t="t" l="l"/>
              <a:pathLst>
                <a:path h="62097" w="987219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987219" cy="81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893855" y="8695865"/>
            <a:ext cx="3748348" cy="235776"/>
            <a:chOff x="0" y="0"/>
            <a:chExt cx="987219" cy="620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7219" cy="62097"/>
            </a:xfrm>
            <a:custGeom>
              <a:avLst/>
              <a:gdLst/>
              <a:ahLst/>
              <a:cxnLst/>
              <a:rect r="r" b="b" t="t" l="l"/>
              <a:pathLst>
                <a:path h="62097" w="987219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987219" cy="81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230364" y="1659112"/>
            <a:ext cx="3748348" cy="235776"/>
            <a:chOff x="0" y="0"/>
            <a:chExt cx="987219" cy="620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87219" cy="62097"/>
            </a:xfrm>
            <a:custGeom>
              <a:avLst/>
              <a:gdLst/>
              <a:ahLst/>
              <a:cxnLst/>
              <a:rect r="r" b="b" t="t" l="l"/>
              <a:pathLst>
                <a:path h="62097" w="987219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987219" cy="81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73497" y="9120174"/>
            <a:ext cx="3748348" cy="235776"/>
            <a:chOff x="0" y="0"/>
            <a:chExt cx="987219" cy="620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7219" cy="62097"/>
            </a:xfrm>
            <a:custGeom>
              <a:avLst/>
              <a:gdLst/>
              <a:ahLst/>
              <a:cxnLst/>
              <a:rect r="r" b="b" t="t" l="l"/>
              <a:pathLst>
                <a:path h="62097" w="987219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987219" cy="81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7120" y="3352009"/>
            <a:ext cx="17499954" cy="3554604"/>
          </a:xfrm>
          <a:custGeom>
            <a:avLst/>
            <a:gdLst/>
            <a:ahLst/>
            <a:cxnLst/>
            <a:rect r="r" b="b" t="t" l="l"/>
            <a:pathLst>
              <a:path h="3554604" w="17499954">
                <a:moveTo>
                  <a:pt x="0" y="0"/>
                </a:moveTo>
                <a:lnTo>
                  <a:pt x="17499954" y="0"/>
                </a:lnTo>
                <a:lnTo>
                  <a:pt x="17499954" y="3554604"/>
                </a:lnTo>
                <a:lnTo>
                  <a:pt x="0" y="35546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386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69655" y="897809"/>
            <a:ext cx="13660709" cy="88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08"/>
              </a:lnSpc>
              <a:spcBef>
                <a:spcPct val="0"/>
              </a:spcBef>
            </a:pPr>
            <a:r>
              <a:rPr lang="en-US" b="true" sz="7200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PLANIFICACIÓN DEL ROADMAP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3069" y="3178075"/>
            <a:ext cx="16675257" cy="3731089"/>
          </a:xfrm>
          <a:custGeom>
            <a:avLst/>
            <a:gdLst/>
            <a:ahLst/>
            <a:cxnLst/>
            <a:rect r="r" b="b" t="t" l="l"/>
            <a:pathLst>
              <a:path h="3731089" w="16675257">
                <a:moveTo>
                  <a:pt x="0" y="0"/>
                </a:moveTo>
                <a:lnTo>
                  <a:pt x="16675257" y="0"/>
                </a:lnTo>
                <a:lnTo>
                  <a:pt x="16675257" y="3731088"/>
                </a:lnTo>
                <a:lnTo>
                  <a:pt x="0" y="37310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98750" y="869068"/>
            <a:ext cx="11290500" cy="88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08"/>
              </a:lnSpc>
              <a:spcBef>
                <a:spcPct val="0"/>
              </a:spcBef>
            </a:pPr>
            <a:r>
              <a:rPr lang="en-US" b="true" sz="7200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AVANCE ESPERADO / REAL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92456" y="1091291"/>
            <a:ext cx="11103088" cy="88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408"/>
              </a:lnSpc>
              <a:spcBef>
                <a:spcPct val="0"/>
              </a:spcBef>
            </a:pPr>
            <a:r>
              <a:rPr lang="en-US" b="true" sz="7200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MEJORAS Y CORRECIONES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78674" y="4750498"/>
            <a:ext cx="5974864" cy="757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95"/>
              </a:lnSpc>
              <a:spcBef>
                <a:spcPct val="0"/>
              </a:spcBef>
            </a:pPr>
            <a:r>
              <a:rPr lang="en-US" sz="4799" u="sng">
                <a:solidFill>
                  <a:srgbClr val="365B6D"/>
                </a:solidFill>
                <a:latin typeface="Monterchi Serif"/>
                <a:ea typeface="Monterchi Serif"/>
                <a:cs typeface="Monterchi Serif"/>
                <a:sym typeface="Monterchi Serif"/>
                <a:hlinkClick r:id="rId2" tooltip="https://trello.com/b/C2MDnM9p/mi-tablero-de-trello"/>
              </a:rPr>
              <a:t>Link Tablero trello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91556" y="3150667"/>
            <a:ext cx="10703279" cy="2676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880"/>
              </a:lnSpc>
              <a:spcBef>
                <a:spcPct val="0"/>
              </a:spcBef>
            </a:pPr>
            <a:r>
              <a:rPr lang="en-US" b="true" sz="7731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DEMOSTRACIÓN DE LA APP COMO EVIDENCIA DE AVANCE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810256" y="0"/>
            <a:ext cx="6477744" cy="10287000"/>
            <a:chOff x="0" y="0"/>
            <a:chExt cx="8636992" cy="1371600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2"/>
            <a:srcRect l="29023" t="0" r="29023" b="0"/>
            <a:stretch>
              <a:fillRect/>
            </a:stretch>
          </p:blipFill>
          <p:spPr>
            <a:xfrm flipH="false" flipV="false">
              <a:off x="0" y="0"/>
              <a:ext cx="8636992" cy="13716000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1550281" y="8951613"/>
            <a:ext cx="509692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19"/>
              </a:lnSpc>
              <a:spcBef>
                <a:spcPct val="0"/>
              </a:spcBef>
            </a:pPr>
            <a:r>
              <a:rPr lang="en-US" sz="1799" i="true">
                <a:solidFill>
                  <a:srgbClr val="365B6D"/>
                </a:solidFill>
                <a:latin typeface="Monterchi Serif Italics"/>
                <a:ea typeface="Monterchi Serif Italics"/>
                <a:cs typeface="Monterchi Serif Italics"/>
                <a:sym typeface="Monterchi Serif Italics"/>
              </a:rPr>
              <a:t>Fuente: www.unsitiogenial.es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730005" y="8598216"/>
            <a:ext cx="3748348" cy="235776"/>
            <a:chOff x="0" y="0"/>
            <a:chExt cx="987219" cy="620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7219" cy="62097"/>
            </a:xfrm>
            <a:custGeom>
              <a:avLst/>
              <a:gdLst/>
              <a:ahLst/>
              <a:cxnLst/>
              <a:rect r="r" b="b" t="t" l="l"/>
              <a:pathLst>
                <a:path h="62097" w="987219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6C9286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987219" cy="81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09647" y="9022524"/>
            <a:ext cx="3748348" cy="235776"/>
            <a:chOff x="0" y="0"/>
            <a:chExt cx="987219" cy="620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87219" cy="62097"/>
            </a:xfrm>
            <a:custGeom>
              <a:avLst/>
              <a:gdLst/>
              <a:ahLst/>
              <a:cxnLst/>
              <a:rect r="r" b="b" t="t" l="l"/>
              <a:pathLst>
                <a:path h="62097" w="987219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987219" cy="81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2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124960"/>
            <a:ext cx="2798754" cy="1989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365B6D"/>
                </a:solidFill>
                <a:latin typeface="Monterchi Serif"/>
                <a:ea typeface="Monterchi Serif"/>
                <a:cs typeface="Monterchi Serif"/>
                <a:sym typeface="Monterchi Serif"/>
              </a:rPr>
              <a:t>Implementación de reportes automáticos con exportación en CSV y PDF basados en los datos reales del sist</a:t>
            </a:r>
            <a:r>
              <a:rPr lang="en-US" sz="2299">
                <a:solidFill>
                  <a:srgbClr val="365B6D"/>
                </a:solidFill>
                <a:latin typeface="Monterchi Serif"/>
                <a:ea typeface="Monterchi Serif"/>
                <a:cs typeface="Monterchi Serif"/>
                <a:sym typeface="Monterchi Serif"/>
              </a:rPr>
              <a:t>ema.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00857" y="4126230"/>
            <a:ext cx="2798754" cy="208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365B6D"/>
                </a:solidFill>
                <a:latin typeface="Monterchi Serif"/>
                <a:ea typeface="Monterchi Serif"/>
                <a:cs typeface="Monterchi Serif"/>
                <a:sym typeface="Monterchi Serif"/>
              </a:rPr>
              <a:t>Finalización del historial del vehículo y su descarga en PDF para asegurar trazabilidad completa.</a:t>
            </a:r>
          </a:p>
        </p:txBody>
      </p:sp>
      <p:sp>
        <p:nvSpPr>
          <p:cNvPr name="AutoShape 4" id="4"/>
          <p:cNvSpPr/>
          <p:nvPr/>
        </p:nvSpPr>
        <p:spPr>
          <a:xfrm>
            <a:off x="-266402" y="3897630"/>
            <a:ext cx="18824318" cy="0"/>
          </a:xfrm>
          <a:prstGeom prst="line">
            <a:avLst/>
          </a:prstGeom>
          <a:ln cap="flat" w="38100">
            <a:solidFill>
              <a:srgbClr val="365B6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28700" y="3500491"/>
            <a:ext cx="2801543" cy="235776"/>
            <a:chOff x="0" y="0"/>
            <a:chExt cx="3735390" cy="314368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867695" cy="314368"/>
              <a:chOff x="0" y="0"/>
              <a:chExt cx="368927" cy="62097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36892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368927">
                    <a:moveTo>
                      <a:pt x="0" y="0"/>
                    </a:moveTo>
                    <a:lnTo>
                      <a:pt x="368927" y="0"/>
                    </a:lnTo>
                    <a:lnTo>
                      <a:pt x="36892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28575"/>
                <a:ext cx="36892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1867695" y="0"/>
              <a:ext cx="1867695" cy="314368"/>
              <a:chOff x="0" y="0"/>
              <a:chExt cx="368927" cy="6209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6892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368927">
                    <a:moveTo>
                      <a:pt x="0" y="0"/>
                    </a:moveTo>
                    <a:lnTo>
                      <a:pt x="368927" y="0"/>
                    </a:lnTo>
                    <a:lnTo>
                      <a:pt x="36892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28575"/>
                <a:ext cx="36892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9145757" y="4126230"/>
            <a:ext cx="2798754" cy="208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365B6D"/>
                </a:solidFill>
                <a:latin typeface="Monterchi Serif"/>
                <a:ea typeface="Monterchi Serif"/>
                <a:cs typeface="Monterchi Serif"/>
                <a:sym typeface="Monterchi Serif"/>
              </a:rPr>
              <a:t>Ejecución de pruebas finales y elaboración de la documentación técnica y funcional del sistema.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998069" y="3500491"/>
            <a:ext cx="2801543" cy="235776"/>
            <a:chOff x="0" y="0"/>
            <a:chExt cx="3735390" cy="314368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867695" cy="314368"/>
              <a:chOff x="0" y="0"/>
              <a:chExt cx="368927" cy="6209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36892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368927">
                    <a:moveTo>
                      <a:pt x="0" y="0"/>
                    </a:moveTo>
                    <a:lnTo>
                      <a:pt x="368927" y="0"/>
                    </a:lnTo>
                    <a:lnTo>
                      <a:pt x="36892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36892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867695" y="0"/>
              <a:ext cx="1867695" cy="314368"/>
              <a:chOff x="0" y="0"/>
              <a:chExt cx="368927" cy="6209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36892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368927">
                    <a:moveTo>
                      <a:pt x="0" y="0"/>
                    </a:moveTo>
                    <a:lnTo>
                      <a:pt x="368927" y="0"/>
                    </a:lnTo>
                    <a:lnTo>
                      <a:pt x="36892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36892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20" id="20"/>
          <p:cNvSpPr txBox="true"/>
          <p:nvPr/>
        </p:nvSpPr>
        <p:spPr>
          <a:xfrm rot="0">
            <a:off x="13130520" y="4124960"/>
            <a:ext cx="2798754" cy="208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365B6D"/>
                </a:solidFill>
                <a:latin typeface="Monterchi Serif"/>
                <a:ea typeface="Monterchi Serif"/>
                <a:cs typeface="Monterchi Serif"/>
                <a:sym typeface="Monterchi Serif"/>
              </a:rPr>
              <a:t>Primer acercamiento al módulo predictivo utilizando datos generados durante el proyecto.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971186" y="3500491"/>
            <a:ext cx="2801543" cy="235776"/>
            <a:chOff x="0" y="0"/>
            <a:chExt cx="3735390" cy="314368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867695" cy="314368"/>
              <a:chOff x="0" y="0"/>
              <a:chExt cx="368927" cy="62097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6892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368927">
                    <a:moveTo>
                      <a:pt x="0" y="0"/>
                    </a:moveTo>
                    <a:lnTo>
                      <a:pt x="368927" y="0"/>
                    </a:lnTo>
                    <a:lnTo>
                      <a:pt x="36892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28575"/>
                <a:ext cx="36892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867695" y="0"/>
              <a:ext cx="1867695" cy="314368"/>
              <a:chOff x="0" y="0"/>
              <a:chExt cx="368927" cy="62097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6892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368927">
                    <a:moveTo>
                      <a:pt x="0" y="0"/>
                    </a:moveTo>
                    <a:lnTo>
                      <a:pt x="368927" y="0"/>
                    </a:lnTo>
                    <a:lnTo>
                      <a:pt x="36892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28575"/>
                <a:ext cx="36892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28" id="28"/>
          <p:cNvGrpSpPr/>
          <p:nvPr/>
        </p:nvGrpSpPr>
        <p:grpSpPr>
          <a:xfrm rot="0">
            <a:off x="13127732" y="3500491"/>
            <a:ext cx="2801543" cy="235776"/>
            <a:chOff x="0" y="0"/>
            <a:chExt cx="3735390" cy="314368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867695" cy="314368"/>
              <a:chOff x="0" y="0"/>
              <a:chExt cx="368927" cy="62097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36892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368927">
                    <a:moveTo>
                      <a:pt x="0" y="0"/>
                    </a:moveTo>
                    <a:lnTo>
                      <a:pt x="368927" y="0"/>
                    </a:lnTo>
                    <a:lnTo>
                      <a:pt x="36892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28575"/>
                <a:ext cx="36892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1867695" y="0"/>
              <a:ext cx="1867695" cy="314368"/>
              <a:chOff x="0" y="0"/>
              <a:chExt cx="368927" cy="62097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36892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368927">
                    <a:moveTo>
                      <a:pt x="0" y="0"/>
                    </a:moveTo>
                    <a:lnTo>
                      <a:pt x="368927" y="0"/>
                    </a:lnTo>
                    <a:lnTo>
                      <a:pt x="36892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28575"/>
                <a:ext cx="36892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TextBox 35" id="35"/>
          <p:cNvSpPr txBox="true"/>
          <p:nvPr/>
        </p:nvSpPr>
        <p:spPr>
          <a:xfrm rot="0">
            <a:off x="4498430" y="875835"/>
            <a:ext cx="9291139" cy="883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08"/>
              </a:lnSpc>
              <a:spcBef>
                <a:spcPct val="0"/>
              </a:spcBef>
            </a:pPr>
            <a:r>
              <a:rPr lang="en-US" b="true" sz="7200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PRÓXIMOS PASOS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D9E6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08973" y="4262447"/>
            <a:ext cx="12965683" cy="151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088"/>
              </a:lnSpc>
            </a:pPr>
            <a:r>
              <a:rPr lang="en-US" b="true" sz="12458" spc="398">
                <a:solidFill>
                  <a:srgbClr val="365B6D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MUCHAS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08973" y="5627347"/>
            <a:ext cx="12965683" cy="1519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088"/>
              </a:lnSpc>
            </a:pPr>
            <a:r>
              <a:rPr lang="en-US" b="true" sz="12458" spc="398">
                <a:solidFill>
                  <a:srgbClr val="6C9286"/>
                </a:solidFill>
                <a:latin typeface="Monterchi Serif Bold"/>
                <a:ea typeface="Monterchi Serif Bold"/>
                <a:cs typeface="Monterchi Serif Bold"/>
                <a:sym typeface="Monterchi Serif Bold"/>
              </a:rPr>
              <a:t>GRACIAS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341064" y="991217"/>
            <a:ext cx="5605872" cy="235776"/>
            <a:chOff x="0" y="0"/>
            <a:chExt cx="1476444" cy="620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6444" cy="62097"/>
            </a:xfrm>
            <a:custGeom>
              <a:avLst/>
              <a:gdLst/>
              <a:ahLst/>
              <a:cxnLst/>
              <a:rect r="r" b="b" t="t" l="l"/>
              <a:pathLst>
                <a:path h="62097" w="1476444">
                  <a:moveTo>
                    <a:pt x="0" y="0"/>
                  </a:moveTo>
                  <a:lnTo>
                    <a:pt x="1476444" y="0"/>
                  </a:lnTo>
                  <a:lnTo>
                    <a:pt x="1476444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476444" cy="81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36083" y="721474"/>
            <a:ext cx="3598580" cy="4114800"/>
            <a:chOff x="0" y="0"/>
            <a:chExt cx="4798106" cy="54864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359656"/>
              <a:ext cx="4798106" cy="314368"/>
              <a:chOff x="0" y="0"/>
              <a:chExt cx="947774" cy="6209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947774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47774">
                    <a:moveTo>
                      <a:pt x="0" y="0"/>
                    </a:moveTo>
                    <a:lnTo>
                      <a:pt x="947774" y="0"/>
                    </a:lnTo>
                    <a:lnTo>
                      <a:pt x="947774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28575"/>
                <a:ext cx="947774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1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0" y="925401"/>
              <a:ext cx="3675307" cy="314368"/>
              <a:chOff x="0" y="0"/>
              <a:chExt cx="725987" cy="62097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72598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725987">
                    <a:moveTo>
                      <a:pt x="0" y="0"/>
                    </a:moveTo>
                    <a:lnTo>
                      <a:pt x="725987" y="0"/>
                    </a:lnTo>
                    <a:lnTo>
                      <a:pt x="72598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72598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1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-5400000">
              <a:off x="-650594" y="1538808"/>
              <a:ext cx="3391984" cy="314368"/>
              <a:chOff x="0" y="0"/>
              <a:chExt cx="670022" cy="62097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70022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670022">
                    <a:moveTo>
                      <a:pt x="0" y="0"/>
                    </a:moveTo>
                    <a:lnTo>
                      <a:pt x="670022" y="0"/>
                    </a:lnTo>
                    <a:lnTo>
                      <a:pt x="670022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28575"/>
                <a:ext cx="670022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1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-5400000">
              <a:off x="-2123316" y="3048717"/>
              <a:ext cx="4560999" cy="314368"/>
              <a:chOff x="0" y="0"/>
              <a:chExt cx="900938" cy="6209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900938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00938">
                    <a:moveTo>
                      <a:pt x="0" y="0"/>
                    </a:moveTo>
                    <a:lnTo>
                      <a:pt x="900938" y="0"/>
                    </a:lnTo>
                    <a:lnTo>
                      <a:pt x="900938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900938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1"/>
                  </a:lnSpc>
                </a:pP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-10800000">
            <a:off x="13605221" y="5319624"/>
            <a:ext cx="3598580" cy="4114800"/>
            <a:chOff x="0" y="0"/>
            <a:chExt cx="4798106" cy="54864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359656"/>
              <a:ext cx="4798106" cy="314368"/>
              <a:chOff x="0" y="0"/>
              <a:chExt cx="947774" cy="6209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947774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47774">
                    <a:moveTo>
                      <a:pt x="0" y="0"/>
                    </a:moveTo>
                    <a:lnTo>
                      <a:pt x="947774" y="0"/>
                    </a:lnTo>
                    <a:lnTo>
                      <a:pt x="947774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28575"/>
                <a:ext cx="947774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1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0" y="925401"/>
              <a:ext cx="3675307" cy="314368"/>
              <a:chOff x="0" y="0"/>
              <a:chExt cx="725987" cy="62097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72598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725987">
                    <a:moveTo>
                      <a:pt x="0" y="0"/>
                    </a:moveTo>
                    <a:lnTo>
                      <a:pt x="725987" y="0"/>
                    </a:lnTo>
                    <a:lnTo>
                      <a:pt x="72598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28575"/>
                <a:ext cx="72598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1"/>
                  </a:lnSpc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-5400000">
              <a:off x="-650594" y="1538808"/>
              <a:ext cx="3391984" cy="314368"/>
              <a:chOff x="0" y="0"/>
              <a:chExt cx="670022" cy="62097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670022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670022">
                    <a:moveTo>
                      <a:pt x="0" y="0"/>
                    </a:moveTo>
                    <a:lnTo>
                      <a:pt x="670022" y="0"/>
                    </a:lnTo>
                    <a:lnTo>
                      <a:pt x="670022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670022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1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-5400000">
              <a:off x="-2123316" y="3048717"/>
              <a:ext cx="4560999" cy="314368"/>
              <a:chOff x="0" y="0"/>
              <a:chExt cx="900938" cy="62097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00938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00938">
                    <a:moveTo>
                      <a:pt x="0" y="0"/>
                    </a:moveTo>
                    <a:lnTo>
                      <a:pt x="900938" y="0"/>
                    </a:lnTo>
                    <a:lnTo>
                      <a:pt x="900938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365B6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28575"/>
                <a:ext cx="900938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21"/>
                  </a:lnSpc>
                </a:pPr>
              </a:p>
            </p:txBody>
          </p:sp>
        </p:grpSp>
      </p:grpSp>
      <p:grpSp>
        <p:nvGrpSpPr>
          <p:cNvPr name="Group 33" id="33"/>
          <p:cNvGrpSpPr/>
          <p:nvPr/>
        </p:nvGrpSpPr>
        <p:grpSpPr>
          <a:xfrm rot="-5400000">
            <a:off x="1126558" y="5307992"/>
            <a:ext cx="3598580" cy="4114800"/>
            <a:chOff x="0" y="0"/>
            <a:chExt cx="4798106" cy="54864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359656"/>
              <a:ext cx="4798106" cy="314368"/>
              <a:chOff x="0" y="0"/>
              <a:chExt cx="947774" cy="62097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947774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47774">
                    <a:moveTo>
                      <a:pt x="0" y="0"/>
                    </a:moveTo>
                    <a:lnTo>
                      <a:pt x="947774" y="0"/>
                    </a:lnTo>
                    <a:lnTo>
                      <a:pt x="947774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28575"/>
                <a:ext cx="947774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925401"/>
              <a:ext cx="3675307" cy="314368"/>
              <a:chOff x="0" y="0"/>
              <a:chExt cx="725987" cy="62097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72598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725987">
                    <a:moveTo>
                      <a:pt x="0" y="0"/>
                    </a:moveTo>
                    <a:lnTo>
                      <a:pt x="725987" y="0"/>
                    </a:lnTo>
                    <a:lnTo>
                      <a:pt x="72598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28575"/>
                <a:ext cx="72598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-5400000">
              <a:off x="-650594" y="1538808"/>
              <a:ext cx="3391984" cy="314368"/>
              <a:chOff x="0" y="0"/>
              <a:chExt cx="670022" cy="6209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670022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670022">
                    <a:moveTo>
                      <a:pt x="0" y="0"/>
                    </a:moveTo>
                    <a:lnTo>
                      <a:pt x="670022" y="0"/>
                    </a:lnTo>
                    <a:lnTo>
                      <a:pt x="670022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28575"/>
                <a:ext cx="670022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-5400000">
              <a:off x="-2123316" y="3048717"/>
              <a:ext cx="4560999" cy="314368"/>
              <a:chOff x="0" y="0"/>
              <a:chExt cx="900938" cy="62097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900938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00938">
                    <a:moveTo>
                      <a:pt x="0" y="0"/>
                    </a:moveTo>
                    <a:lnTo>
                      <a:pt x="900938" y="0"/>
                    </a:lnTo>
                    <a:lnTo>
                      <a:pt x="900938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28575"/>
                <a:ext cx="900938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46" id="46"/>
          <p:cNvGrpSpPr/>
          <p:nvPr/>
        </p:nvGrpSpPr>
        <p:grpSpPr>
          <a:xfrm rot="5400000">
            <a:off x="13614746" y="733106"/>
            <a:ext cx="3598580" cy="4114800"/>
            <a:chOff x="0" y="0"/>
            <a:chExt cx="4798106" cy="5486400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359656"/>
              <a:ext cx="4798106" cy="314368"/>
              <a:chOff x="0" y="0"/>
              <a:chExt cx="947774" cy="62097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947774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47774">
                    <a:moveTo>
                      <a:pt x="0" y="0"/>
                    </a:moveTo>
                    <a:lnTo>
                      <a:pt x="947774" y="0"/>
                    </a:lnTo>
                    <a:lnTo>
                      <a:pt x="947774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28575"/>
                <a:ext cx="947774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0" y="925401"/>
              <a:ext cx="3675307" cy="314368"/>
              <a:chOff x="0" y="0"/>
              <a:chExt cx="725987" cy="62097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725987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725987">
                    <a:moveTo>
                      <a:pt x="0" y="0"/>
                    </a:moveTo>
                    <a:lnTo>
                      <a:pt x="725987" y="0"/>
                    </a:lnTo>
                    <a:lnTo>
                      <a:pt x="725987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28575"/>
                <a:ext cx="725987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-5400000">
              <a:off x="-650594" y="1538808"/>
              <a:ext cx="3391984" cy="314368"/>
              <a:chOff x="0" y="0"/>
              <a:chExt cx="670022" cy="62097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670022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670022">
                    <a:moveTo>
                      <a:pt x="0" y="0"/>
                    </a:moveTo>
                    <a:lnTo>
                      <a:pt x="670022" y="0"/>
                    </a:lnTo>
                    <a:lnTo>
                      <a:pt x="670022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28575"/>
                <a:ext cx="670022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-5400000">
              <a:off x="-2123316" y="3048717"/>
              <a:ext cx="4560999" cy="314368"/>
              <a:chOff x="0" y="0"/>
              <a:chExt cx="900938" cy="62097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900938" cy="62097"/>
              </a:xfrm>
              <a:custGeom>
                <a:avLst/>
                <a:gdLst/>
                <a:ahLst/>
                <a:cxnLst/>
                <a:rect r="r" b="b" t="t" l="l"/>
                <a:pathLst>
                  <a:path h="62097" w="900938">
                    <a:moveTo>
                      <a:pt x="0" y="0"/>
                    </a:moveTo>
                    <a:lnTo>
                      <a:pt x="900938" y="0"/>
                    </a:lnTo>
                    <a:lnTo>
                      <a:pt x="900938" y="62097"/>
                    </a:lnTo>
                    <a:lnTo>
                      <a:pt x="0" y="62097"/>
                    </a:lnTo>
                    <a:close/>
                  </a:path>
                </a:pathLst>
              </a:custGeom>
              <a:solidFill>
                <a:srgbClr val="6C928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28575"/>
                <a:ext cx="900938" cy="9067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921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59" id="59"/>
          <p:cNvGrpSpPr/>
          <p:nvPr/>
        </p:nvGrpSpPr>
        <p:grpSpPr>
          <a:xfrm rot="-10800000">
            <a:off x="6341064" y="8928906"/>
            <a:ext cx="5605872" cy="235776"/>
            <a:chOff x="0" y="0"/>
            <a:chExt cx="1476444" cy="6209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76444" cy="62097"/>
            </a:xfrm>
            <a:custGeom>
              <a:avLst/>
              <a:gdLst/>
              <a:ahLst/>
              <a:cxnLst/>
              <a:rect r="r" b="b" t="t" l="l"/>
              <a:pathLst>
                <a:path h="62097" w="1476444">
                  <a:moveTo>
                    <a:pt x="0" y="0"/>
                  </a:moveTo>
                  <a:lnTo>
                    <a:pt x="1476444" y="0"/>
                  </a:lnTo>
                  <a:lnTo>
                    <a:pt x="1476444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1476444" cy="81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269826" y="1415525"/>
            <a:ext cx="3748348" cy="235776"/>
            <a:chOff x="0" y="0"/>
            <a:chExt cx="987219" cy="6209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87219" cy="62097"/>
            </a:xfrm>
            <a:custGeom>
              <a:avLst/>
              <a:gdLst/>
              <a:ahLst/>
              <a:cxnLst/>
              <a:rect r="r" b="b" t="t" l="l"/>
              <a:pathLst>
                <a:path h="62097" w="987219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987219" cy="81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-10800000">
            <a:off x="7269826" y="8504598"/>
            <a:ext cx="3748348" cy="235776"/>
            <a:chOff x="0" y="0"/>
            <a:chExt cx="987219" cy="6209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87219" cy="62097"/>
            </a:xfrm>
            <a:custGeom>
              <a:avLst/>
              <a:gdLst/>
              <a:ahLst/>
              <a:cxnLst/>
              <a:rect r="r" b="b" t="t" l="l"/>
              <a:pathLst>
                <a:path h="62097" w="987219">
                  <a:moveTo>
                    <a:pt x="0" y="0"/>
                  </a:moveTo>
                  <a:lnTo>
                    <a:pt x="987219" y="0"/>
                  </a:lnTo>
                  <a:lnTo>
                    <a:pt x="987219" y="62097"/>
                  </a:lnTo>
                  <a:lnTo>
                    <a:pt x="0" y="62097"/>
                  </a:lnTo>
                  <a:close/>
                </a:path>
              </a:pathLst>
            </a:custGeom>
            <a:solidFill>
              <a:srgbClr val="365B6D"/>
            </a:solidFill>
            <a:ln cap="sq">
              <a:noFill/>
              <a:prstDash val="solid"/>
              <a:miter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987219" cy="81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921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DAG4uFQTNa0</dc:identifier>
  <dcterms:modified xsi:type="dcterms:W3CDTF">2011-08-01T06:04:30Z</dcterms:modified>
  <cp:revision>1</cp:revision>
  <dc:title>Presentacion final fase 2</dc:title>
</cp:coreProperties>
</file>